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F4A3F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F4A3F"/>
                </a:solidFill>
                <a:latin typeface="Calibri"/>
              </a:rPr>
              <a:t>Cumulative revenue vs. total cost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revenue</c:v>
                </c:pt>
              </c:strCache>
            </c:strRef>
          </c:tx>
          <c:spPr>
            <a:solidFill>
              <a:srgbClr val="A69A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Month 12</c:v>
                  </c:pt>
                  <c:pt idx="1">
                    <c:v>Month 36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3801</c:v>
                </c:pt>
                <c:pt idx="1">
                  <c:v>87413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cost</c:v>
                </c:pt>
              </c:strCache>
            </c:strRef>
          </c:tx>
          <c:spPr>
            <a:solidFill>
              <a:srgbClr val="2F4A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Month 12</c:v>
                  </c:pt>
                  <c:pt idx="1">
                    <c:v>Month 36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860515</c:v>
                </c:pt>
                <c:pt idx="1">
                  <c:v>1581620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2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2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8C7FBE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3291840" cy="3291840"/>
          </a:xfrm>
          <a:prstGeom prst="ellipse">
            <a:avLst/>
          </a:prstGeom>
          <a:solidFill>
            <a:srgbClr val="DDEAE6">
              <a:alpha val="15000"/>
            </a:srgbClr>
          </a:solidFill>
          <a:ln/>
        </p:spPr>
      </p:sp>
      <p:pic>
        <p:nvPicPr>
          <p:cNvPr id="4" name="Image 0" descr="/home/user/anaphora_full_product_MVP/frontend/public/brand/anaphor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868680"/>
            <a:ext cx="100584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187452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anaphora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0" y="2606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A69A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 CONNECTIONS, LASTING STORIES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979676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DD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matchmaking  ·  Consumer dating &amp; relationship technology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728716" y="3977640"/>
            <a:ext cx="731520" cy="0"/>
          </a:xfrm>
          <a:prstGeom prst="line">
            <a:avLst/>
          </a:prstGeom>
          <a:noFill/>
          <a:ln w="19050">
            <a:solidFill>
              <a:srgbClr val="A69AC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0" y="429768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Louise Plessis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0" y="608076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Strategic &amp; Compliance Review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FROM ROUND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idea. Built out for real.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and extraction were one step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806440" y="2304288"/>
            <a:ext cx="457200" cy="274320"/>
          </a:xfrm>
          <a:prstGeom prst="rightArrow">
            <a:avLst/>
          </a:prstGeom>
          <a:solidFill>
            <a:srgbClr val="A69ACD"/>
          </a:solidFill>
          <a:ln/>
        </p:spPr>
      </p:sp>
      <p:sp>
        <p:nvSpPr>
          <p:cNvPr id="8" name="Shape 6"/>
          <p:cNvSpPr/>
          <p:nvPr/>
        </p:nvSpPr>
        <p:spPr>
          <a:xfrm>
            <a:off x="6446520" y="1737360"/>
            <a:ext cx="5193792" cy="1417320"/>
          </a:xfrm>
          <a:prstGeom prst="roundRect">
            <a:avLst>
              <a:gd name="adj" fmla="val 7742"/>
            </a:avLst>
          </a:prstGeom>
          <a:solidFill>
            <a:srgbClr val="2F4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0" y="1901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69A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1945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separated — structured signals drive matching, not the raw transcript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5935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8862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RAG matching yet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06440" y="3995928"/>
            <a:ext cx="457200" cy="274320"/>
          </a:xfrm>
          <a:prstGeom prst="rightArrow">
            <a:avLst/>
          </a:prstGeom>
          <a:solidFill>
            <a:srgbClr val="A69A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46520" y="3429000"/>
            <a:ext cx="5193792" cy="1417320"/>
          </a:xfrm>
          <a:prstGeom prst="roundRect">
            <a:avLst>
              <a:gd name="adj" fmla="val 7742"/>
            </a:avLst>
          </a:prstGeom>
          <a:solidFill>
            <a:srgbClr val="2F4A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0" y="3593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69A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8862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live — reciprocal, explainable matching against a real candidate pool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91672" cy="960120"/>
          </a:xfrm>
          <a:prstGeom prst="roundRect">
            <a:avLst>
              <a:gd name="adj" fmla="val 11429"/>
            </a:avLst>
          </a:prstGeom>
          <a:solidFill>
            <a:srgbClr val="DDEAE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516636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staff feedback: continue with the same industry and use case. No pivot.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Loneliness is rising. Swiping isn’t fixing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99516" y="173736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F2EDE6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4108" y="1847088"/>
            <a:ext cx="3054096" cy="10341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8C7F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75M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864108" y="2807208"/>
            <a:ext cx="305409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single-adult EU households, +17% since 2015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402836" y="173736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F2EDE6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7428" y="1847088"/>
            <a:ext cx="3054096" cy="10341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8C7F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4567428" y="2807208"/>
            <a:ext cx="305409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EU adults have no close friends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106156" y="173736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F2EDE6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0748" y="1847088"/>
            <a:ext cx="3054096" cy="10341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8C7F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60%+</a:t>
            </a:r>
            <a:endParaRPr lang="en-US" sz="5000" dirty="0"/>
          </a:p>
        </p:txBody>
      </p:sp>
      <p:sp>
        <p:nvSpPr>
          <p:cNvPr id="12" name="Text 10"/>
          <p:cNvSpPr txBox="1"/>
          <p:nvPr/>
        </p:nvSpPr>
        <p:spPr>
          <a:xfrm>
            <a:off x="8270748" y="2807208"/>
            <a:ext cx="305409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dating-app uninstall rate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99516" y="3886200"/>
            <a:ext cx="10789920" cy="1737360"/>
          </a:xfrm>
          <a:prstGeom prst="roundRect">
            <a:avLst>
              <a:gd name="adj" fmla="val 6316"/>
            </a:avLst>
          </a:prstGeom>
          <a:solidFill>
            <a:srgbClr val="2F4A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65276" y="406908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aren’t leaving dating apps — they’re leaving the swipe mechanic.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Eurostat 2024/25 · OECD Social Connections &amp; Loneliness · GetStream Dating App Statistics 2026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EA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conversation, instead of endless choice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NLP  +  generation  +  retrieval-augmented matching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2F4A3F"/>
          </a:solidFill>
          <a:ln/>
        </p:spPr>
      </p:sp>
      <p:pic>
        <p:nvPicPr>
          <p:cNvPr id="6" name="Image 0" descr="/tmp/claude-0/-home-user-anaphora-full-product-MVP/a0a81d21-bc0b-55cb-b5e4-f8281359810a/scratchpad/deck/icons/ch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208666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52728" y="19202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conversation builds your Blueprint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252728" y="2350008"/>
            <a:ext cx="6199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guided AI conversation replaces the profile form.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2F4A3F"/>
          </a:solidFill>
          <a:ln/>
        </p:spPr>
      </p:sp>
      <p:pic>
        <p:nvPicPr>
          <p:cNvPr id="10" name="Image 1" descr="/tmp/claude-0/-home-user-anaphora-full-product-MVP/a0a81d21-bc0b-55cb-b5e4-f8281359810a/scratchpad/deck/icons/user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52728" y="310896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friend adds a private perspective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252728" y="3538728"/>
            <a:ext cx="6199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real matching signal — raw answers stay private.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502920" cy="502920"/>
          </a:xfrm>
          <a:prstGeom prst="ellipse">
            <a:avLst/>
          </a:prstGeom>
          <a:solidFill>
            <a:srgbClr val="2F4A3F"/>
          </a:solidFill>
          <a:ln/>
        </p:spPr>
      </p:sp>
      <p:pic>
        <p:nvPicPr>
          <p:cNvPr id="14" name="Image 2" descr="/tmp/claude-0/-home-user-anaphora-full-product-MVP/a0a81d21-bc0b-55cb-b5e4-f8281359810a/scratchpad/deck/icons/ey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44641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52728" y="42976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come with a reason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1252728" y="4727448"/>
            <a:ext cx="6199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reciprocal — never a black-box score.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7818120" y="1417320"/>
            <a:ext cx="3840480" cy="484632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5000"/>
              </a:srgbClr>
            </a:outerShdw>
          </a:effectLst>
        </p:spPr>
      </p:sp>
      <p:pic>
        <p:nvPicPr>
          <p:cNvPr id="18" name="Image 3" descr="/tmp/claude-0/-home-user-anaphora-full-product-MVP/a0a81d21-bc0b-55cb-b5e4-f8281359810a/scratchpad/shots/welcome_clean.png">    </p:cNvPr>
          <p:cNvPicPr>
            <a:picLocks noChangeAspect="1"/>
          </p:cNvPicPr>
          <p:nvPr/>
        </p:nvPicPr>
        <p:blipFill>
          <a:blip r:embed="rId4"/>
          <a:srcRect l="-27308" r="-27308" t="0" b="0"/>
          <a:stretch/>
        </p:blipFill>
        <p:spPr>
          <a:xfrm>
            <a:off x="8092440" y="1691640"/>
            <a:ext cx="3291840" cy="42976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818120" y="63825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live product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— WHERE WE STARTED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the core idea, before building the rest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71600" y="1691640"/>
            <a:ext cx="27432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2450592" y="1847088"/>
            <a:ext cx="585216" cy="585216"/>
          </a:xfrm>
          <a:prstGeom prst="ellipse">
            <a:avLst/>
          </a:prstGeom>
          <a:solidFill>
            <a:srgbClr val="2F4A3F"/>
          </a:solidFill>
          <a:ln/>
        </p:spPr>
      </p:sp>
      <p:pic>
        <p:nvPicPr>
          <p:cNvPr id="6" name="Image 0" descr="/tmp/claude-0/-home-user-anaphora-full-product-MVP/a0a81d21-bc0b-55cb-b5e4-f8281359810a/scratchpad/deck/icons/ch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608" y="1975104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54203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251960" y="2240280"/>
            <a:ext cx="548640" cy="256032"/>
          </a:xfrm>
          <a:prstGeom prst="rightArrow">
            <a:avLst/>
          </a:prstGeom>
          <a:solidFill>
            <a:srgbClr val="8C7FBE"/>
          </a:solidFill>
          <a:ln/>
        </p:spPr>
      </p:sp>
      <p:sp>
        <p:nvSpPr>
          <p:cNvPr id="9" name="Shape 6"/>
          <p:cNvSpPr/>
          <p:nvPr/>
        </p:nvSpPr>
        <p:spPr>
          <a:xfrm>
            <a:off x="4937760" y="1691640"/>
            <a:ext cx="27432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016752" y="1847088"/>
            <a:ext cx="585216" cy="585216"/>
          </a:xfrm>
          <a:prstGeom prst="ellipse">
            <a:avLst/>
          </a:prstGeom>
          <a:solidFill>
            <a:srgbClr val="2F4A3F"/>
          </a:solidFill>
          <a:ln/>
        </p:spPr>
      </p:sp>
      <p:pic>
        <p:nvPicPr>
          <p:cNvPr id="11" name="Image 1" descr="/tmp/claude-0/-home-user-anaphora-full-product-MVP/a0a81d21-bc0b-55cb-b5e4-f8281359810a/scratchpad/deck/icons/layer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975104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0" y="254203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Blueprint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822960" y="3593592"/>
            <a:ext cx="128016" cy="128016"/>
          </a:xfrm>
          <a:prstGeom prst="ellipse">
            <a:avLst/>
          </a:prstGeom>
          <a:solidFill>
            <a:srgbClr val="8C7FB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43000" y="344728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same core approach: LangChain + GPT-4o conversation, structured extraction.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822960" y="4251960"/>
            <a:ext cx="128016" cy="128016"/>
          </a:xfrm>
          <a:prstGeom prst="ellipse">
            <a:avLst/>
          </a:prstGeom>
          <a:solidFill>
            <a:srgbClr val="8C7FBE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143000" y="410565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the core capability worked: real conversation → real structured signals.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22960" y="4910328"/>
            <a:ext cx="128016" cy="128016"/>
          </a:xfrm>
          <a:prstGeom prst="ellipse">
            <a:avLst/>
          </a:prstGeom>
          <a:solidFill>
            <a:srgbClr val="8C7FBE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143000" y="47640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Didn’t yet have: RAG matching, friend input, or any real testers.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548640" y="56235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2F4A3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result is what earned the green light to build the full product.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math: pre-revenue economics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59436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720840" y="1508760"/>
            <a:ext cx="4937760" cy="1234440"/>
          </a:xfrm>
          <a:prstGeom prst="roundRect">
            <a:avLst>
              <a:gd name="adj" fmla="val 8889"/>
            </a:avLst>
          </a:prstGeom>
          <a:solidFill>
            <a:srgbClr val="F2EDE6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85432" y="1618488"/>
            <a:ext cx="4608576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8C7F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≈23,700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6885432" y="2249424"/>
            <a:ext cx="4608576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needed to break even — not reached by month 36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720840" y="2880360"/>
            <a:ext cx="4937760" cy="1234440"/>
          </a:xfrm>
          <a:prstGeom prst="roundRect">
            <a:avLst>
              <a:gd name="adj" fmla="val 8889"/>
            </a:avLst>
          </a:prstGeom>
          <a:solidFill>
            <a:srgbClr val="F2EDE6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85432" y="2990088"/>
            <a:ext cx="4608576" cy="7159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−100% / −94%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6885432" y="3621024"/>
            <a:ext cx="4608576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 &amp; 36-month ROI — expected at pre-revenue stage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estimates from industry benchmarks — validated during the pilot.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EA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3 risks — and why they’re manageable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pic>
        <p:nvPicPr>
          <p:cNvPr id="5" name="Image 0" descr="/tmp/claude-0/-home-user-anaphora-full-product-MVP/a0a81d21-bc0b-55cb-b5e4-f8281359810a/scratchpad/deck/icons/alert_lav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21408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856232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density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856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matches in one city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185623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Single-city Paris launch + local event partnerships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3035808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pic>
        <p:nvPicPr>
          <p:cNvPr id="10" name="Image 1" descr="/tmp/claude-0/-home-user-anaphora-full-product-MVP/a0a81d21-bc0b-55cb-b5e4-f8281359810a/scratchpad/deck/icons/alert_lav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41985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31546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strength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154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Sensitive-data consent is implicit today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635240" y="31546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 done; explicit consent step before pilot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334256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pic>
        <p:nvPicPr>
          <p:cNvPr id="15" name="Image 2" descr="/tmp/claude-0/-home-user-anaphora-full-product-MVP/a0a81d21-bc0b-55cb-b5e4-f8281359810a/scratchpad/deck/icons/alert_lav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18304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445312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dependency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445312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core feature runs on one provider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7635240" y="445312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already centralized — fallback-ready design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risks are manageable — here’s how we’re addressing each one.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SUMMARY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Compliant by design, not by accident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2331720"/>
          </a:xfrm>
          <a:prstGeom prst="roundRect">
            <a:avLst>
              <a:gd name="adj" fmla="val 5490"/>
            </a:avLst>
          </a:prstGeom>
          <a:solidFill>
            <a:srgbClr val="F2EDE6"/>
          </a:solidFill>
          <a:ln/>
        </p:spPr>
      </p:sp>
      <p:pic>
        <p:nvPicPr>
          <p:cNvPr id="5" name="Image 0" descr="/tmp/claude-0/-home-user-anaphora-full-product-MVP/a0a81d21-bc0b-55cb-b5e4-f8281359810a/scratchpad/deck/icons/shield_la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53312" y="18013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22860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2F4A3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22860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RISK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83464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prohibited, not high-risk. Transparency duties already met: AI disclosure on-screen, AI-content notice live.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554480"/>
            <a:ext cx="5468112" cy="2331720"/>
          </a:xfrm>
          <a:prstGeom prst="roundRect">
            <a:avLst>
              <a:gd name="adj" fmla="val 5490"/>
            </a:avLst>
          </a:prstGeom>
          <a:solidFill>
            <a:srgbClr val="F2EDE6"/>
          </a:solidFill>
          <a:ln/>
        </p:spPr>
      </p:sp>
      <p:pic>
        <p:nvPicPr>
          <p:cNvPr id="11" name="Image 1" descr="/tmp/claude-0/-home-user-anaphora-full-product-MVP/a0a81d21-bc0b-55cb-b5e4-f8281359810a/scratchpad/deck/icons/lock_la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83080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976872" y="1801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28600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 complete for the highest-risk processing. Data hosted in the EU (Frankfurt). Consent step is next.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4160520"/>
            <a:ext cx="11091672" cy="1234440"/>
          </a:xfrm>
          <a:prstGeom prst="roundRect">
            <a:avLst>
              <a:gd name="adj" fmla="val 10370"/>
            </a:avLst>
          </a:prstGeom>
          <a:solidFill>
            <a:srgbClr val="2F4A3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68680" y="4160520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compliantly: EU-hosted data, disclosed third-party processing, Limited Risk obligations met.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gap: an explicit consent checkbox for sensitive inference, before scaling past this pilot.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DEPLOYMENT PLAN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→ Full Deployment → Scale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143000"/>
          </a:xfrm>
          <a:prstGeom prst="roundRect">
            <a:avLst>
              <a:gd name="adj" fmla="val 9600"/>
            </a:avLst>
          </a:prstGeom>
          <a:solidFill>
            <a:srgbClr val="2F4A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099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8483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D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 · ~500 users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87368" y="2084832"/>
            <a:ext cx="237744" cy="201168"/>
          </a:xfrm>
          <a:prstGeom prst="rightArrow">
            <a:avLst/>
          </a:prstGeom>
          <a:solidFill>
            <a:srgbClr val="8C7FBE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0" y="1600200"/>
            <a:ext cx="35204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DEA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7099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Deployment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08483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+2–3 EU cities · ~5,000 users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882128" y="2084832"/>
            <a:ext cx="237744" cy="201168"/>
          </a:xfrm>
          <a:prstGeom prst="rightArrow">
            <a:avLst/>
          </a:prstGeom>
          <a:solidFill>
            <a:srgbClr val="8C7FBE"/>
          </a:solidFill>
          <a:ln/>
        </p:spPr>
      </p:sp>
      <p:sp>
        <p:nvSpPr>
          <p:cNvPr id="12" name="Shape 10"/>
          <p:cNvSpPr/>
          <p:nvPr/>
        </p:nvSpPr>
        <p:spPr>
          <a:xfrm>
            <a:off x="8138160" y="1600200"/>
            <a:ext cx="35204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DEA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7099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traction supports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832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 singles, reached through friend invites and local events. €14.99–€29.99/month subscription. No competitor combines explainable, multi-source matching.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0632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→ Full Deployment gate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3832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KPIs met · ≥5% conversion observed · seed funded · no open compliance gap.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11091672" cy="1234440"/>
          </a:xfrm>
          <a:prstGeom prst="roundRect">
            <a:avLst>
              <a:gd name="adj" fmla="val 10370"/>
            </a:avLst>
          </a:prstGeom>
          <a:solidFill>
            <a:srgbClr val="2F4A3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074920"/>
            <a:ext cx="10469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Commercialisation: freemium subscription (not pay-per-match) — predictable recurring revenue to plan hiring and city expansion against.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EA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DEMO — THE UPGRADE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POC to a real, tested product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480560" cy="489204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anaphora-full-product-MVP/a0a81d21-bc0b-55cb-b5e4-f8281359810a/scratchpad/shots/welcome_clean.png">    </p:cNvPr>
          <p:cNvPicPr>
            <a:picLocks noChangeAspect="1"/>
          </p:cNvPicPr>
          <p:nvPr/>
        </p:nvPicPr>
        <p:blipFill>
          <a:blip r:embed="rId1"/>
          <a:srcRect l="-1539" r="-1539" t="0" b="0"/>
          <a:stretch/>
        </p:blipFill>
        <p:spPr>
          <a:xfrm>
            <a:off x="868680" y="1874520"/>
            <a:ext cx="2194560" cy="4297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1722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anaphora-app.netlify.app</a:t>
            </a:r>
            <a:endParaRPr lang="en-US" sz="1100" dirty="0"/>
          </a:p>
        </p:txBody>
      </p:sp>
      <p:pic>
        <p:nvPicPr>
          <p:cNvPr id="7" name="Image 1" descr="/tmp/claude-0/-home-user-anaphora-full-product-MVP/a0a81d21-bc0b-55cb-b5e4-f8281359810a/scratchpad/deck/icons/check_lav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883664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06440" y="18288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Reciprocal, explainable RAG matching</a:t>
            </a:r>
            <a:endParaRPr lang="en-US" sz="2200" dirty="0"/>
          </a:p>
        </p:txBody>
      </p:sp>
      <p:pic>
        <p:nvPicPr>
          <p:cNvPr id="9" name="Image 2" descr="/tmp/claude-0/-home-user-anaphora-full-product-MVP/a0a81d21-bc0b-55cb-b5e4-f8281359810a/scratchpad/deck/icons/check_lav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569464"/>
            <a:ext cx="329184" cy="32918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806440" y="25146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 input — private by design</a:t>
            </a:r>
            <a:endParaRPr lang="en-US" sz="2200" dirty="0"/>
          </a:p>
        </p:txBody>
      </p:sp>
      <p:pic>
        <p:nvPicPr>
          <p:cNvPr id="11" name="Image 3" descr="/tmp/claude-0/-home-user-anaphora-full-product-MVP/a0a81d21-bc0b-55cb-b5e4-f8281359810a/scratchpad/deck/icons/check_lav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255264"/>
            <a:ext cx="329184" cy="32918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806440" y="3200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with 21 real users, live</a:t>
            </a:r>
            <a:endParaRPr lang="en-US" sz="2200" dirty="0"/>
          </a:p>
        </p:txBody>
      </p:sp>
      <p:sp>
        <p:nvSpPr>
          <p:cNvPr id="13" name="Shape 7"/>
          <p:cNvSpPr/>
          <p:nvPr/>
        </p:nvSpPr>
        <p:spPr>
          <a:xfrm>
            <a:off x="5349240" y="4114800"/>
            <a:ext cx="28346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8"/>
          <p:cNvSpPr txBox="1"/>
          <p:nvPr/>
        </p:nvSpPr>
        <p:spPr>
          <a:xfrm>
            <a:off x="5513832" y="4224528"/>
            <a:ext cx="2505456" cy="901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8C7F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4600" dirty="0"/>
          </a:p>
        </p:txBody>
      </p:sp>
      <p:sp>
        <p:nvSpPr>
          <p:cNvPr id="15" name="Text 9"/>
          <p:cNvSpPr txBox="1"/>
          <p:nvPr/>
        </p:nvSpPr>
        <p:spPr>
          <a:xfrm>
            <a:off x="5513832" y="5047488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starters completed a full Blueprint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8366760" y="411480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8531352" y="4224528"/>
            <a:ext cx="2962656" cy="901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4600" dirty="0"/>
          </a:p>
        </p:txBody>
      </p:sp>
      <p:sp>
        <p:nvSpPr>
          <p:cNvPr id="18" name="Text 12"/>
          <p:cNvSpPr txBox="1"/>
          <p:nvPr/>
        </p:nvSpPr>
        <p:spPr>
          <a:xfrm>
            <a:off x="8531352" y="5047488"/>
            <a:ext cx="29626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testers, real usage data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5349240" y="571500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our 70% target — exactly the useful signal for what to fix next.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1154887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754880"/>
            <a:ext cx="3291840" cy="3291840"/>
          </a:xfrm>
          <a:prstGeom prst="ellipse">
            <a:avLst/>
          </a:prstGeom>
          <a:solidFill>
            <a:srgbClr val="8C7FBE">
              <a:alpha val="2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69A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76656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forward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69A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762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Anaphora replaces swiping with one honest conversation — and testers completed it.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69A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1071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Risk under the EU AI Act, GDPR-reviewed, EU-hosted data.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91672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645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F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60-day Paris pilot — 500 users, real conversations, real matches.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0" y="63550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D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2026-09-03T09:31:51Z</dcterms:created>
  <dcterms:modified xsi:type="dcterms:W3CDTF">2026-09-03T09:31:51Z</dcterms:modified>
</cp:coreProperties>
</file>