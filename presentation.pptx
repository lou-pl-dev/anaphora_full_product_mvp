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F4A3F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F4A3F"/>
                </a:solidFill>
                <a:latin typeface="Calibri"/>
              </a:rPr>
              <a:t>Cumulative revenue vs. total cost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revenue</c:v>
                </c:pt>
              </c:strCache>
            </c:strRef>
          </c:tx>
          <c:spPr>
            <a:solidFill>
              <a:srgbClr val="A69AC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Month 12</c:v>
                  </c:pt>
                  <c:pt idx="1">
                    <c:v>Month 36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3801</c:v>
                </c:pt>
                <c:pt idx="1">
                  <c:v>87413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 cost (upfront + ongoing)</c:v>
                </c:pt>
              </c:strCache>
            </c:strRef>
          </c:tx>
          <c:spPr>
            <a:solidFill>
              <a:srgbClr val="2F4A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Month 12</c:v>
                  </c:pt>
                  <c:pt idx="1">
                    <c:v>Month 36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860515</c:v>
                </c:pt>
                <c:pt idx="1">
                  <c:v>1581620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26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26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3.png"/><Relationship Id="rId5" Type="http://schemas.openxmlformats.org/officeDocument/2006/relationships/image" Target="../media/image-9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8C7FB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206240"/>
            <a:ext cx="3291840" cy="3291840"/>
          </a:xfrm>
          <a:prstGeom prst="ellipse">
            <a:avLst/>
          </a:prstGeom>
          <a:solidFill>
            <a:srgbClr val="DDEAE6">
              <a:alpha val="15000"/>
            </a:srgbClr>
          </a:solidFill>
          <a:ln/>
        </p:spPr>
      </p:sp>
      <p:pic>
        <p:nvPicPr>
          <p:cNvPr id="4" name="Image 0" descr="/home/user/anaphora_full_product_MVP/frontend/public/brand/anaphor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1051560"/>
            <a:ext cx="100584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05740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anaphora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0" y="2788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69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CONNECTIONS, LASTING STORIES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802636" y="34290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matchmaking that replaces swiping with one honest conversation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728716" y="4160520"/>
            <a:ext cx="731520" cy="0"/>
          </a:xfrm>
          <a:prstGeom prst="line">
            <a:avLst/>
          </a:prstGeom>
          <a:noFill/>
          <a:ln w="19050">
            <a:solidFill>
              <a:srgbClr val="A69AC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Round 2  ·  Strategic &amp; Compliance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Loneliness is rising. Swiping isn’t fixing it.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99516" y="16916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36676" y="1801368"/>
            <a:ext cx="31089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7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75M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36676" y="2734056"/>
            <a:ext cx="310896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single-adult households in the EU (2024), up 16.9% since 2015 — vs. 5.8% for all households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02836" y="16916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39996" y="1801368"/>
            <a:ext cx="31089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7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539996" y="2734056"/>
            <a:ext cx="310896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adults across 22 EU countries have no close friends at all (OECD)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6156" y="1691640"/>
            <a:ext cx="33832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243316" y="1801368"/>
            <a:ext cx="3108960" cy="9555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7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60%+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243316" y="2734056"/>
            <a:ext cx="3108960" cy="660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uninstall rate for non-organic dating-app users — the churn problem is structural, not a UX tweak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" y="3794760"/>
            <a:ext cx="10789920" cy="1600200"/>
          </a:xfrm>
          <a:prstGeom prst="roundRect">
            <a:avLst>
              <a:gd name="adj" fmla="val 6857"/>
            </a:avLst>
          </a:prstGeom>
          <a:solidFill>
            <a:srgbClr val="2F4A3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65276" y="397764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aren’t leaving dating apps — they’re leaving the swipe mechanic.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(feed-based, no-swipe) grew +95% and crossed $100M revenue in 2025, the same period Tinder, Bumble and Hinge all declined.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550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Eurostat household composition 2024/25; OECD Social Connections &amp; Loneliness; Mordor Intelligence / GetStream Dating App Statistics 2026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conversation, instead of endless choice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5" name="Image 0" descr="/tmp/claude-0/-home-user-anaphora-full-product-MVP/a0a81d21-bc0b-55cb-b5e4-f8281359810a/scratchpad/deck/icon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801368"/>
            <a:ext cx="237744" cy="2377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6642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Relationship Blueprint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476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AI conversation — not a form — progressively builds a structured picture of who you are and who you’re looking for.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862072"/>
            <a:ext cx="457200" cy="45720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9" name="Image 1" descr="/tmp/claude-0/-home-user-anaphora-full-product-MVP/a0a81d21-bc0b-55cb-b5e4-f8281359810a/scratchpad/deck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71800"/>
            <a:ext cx="237744" cy="23774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friend’s perspective, structured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31181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knows you well adds an independent view that feeds the actual matching signal — their raw answers stay private from you.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13" name="Image 2" descr="/tmp/claude-0/-home-user-anaphora-full-product-MVP/a0a81d21-bc0b-55cb-b5e4-f8281359810a/scratchpad/deck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422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400507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reciprocal matching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188720" y="42885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what you say, your own patterns, and your friend’s view — and explains where they converge, instead of a black-box score.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48640" y="5202936"/>
            <a:ext cx="457200" cy="45720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17" name="Image 3" descr="/tmp/claude-0/-home-user-anaphora-full-product-MVP/a0a81d21-bc0b-55cb-b5e4-f8281359810a/scratchpad/deck/icons/he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312664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517550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real introductions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188720" y="54589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over endless browsing — Anaphora surfaces one grounded introduction at a time, with a reason attached.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7818120" y="1417320"/>
            <a:ext cx="3840480" cy="4846320"/>
          </a:xfrm>
          <a:prstGeom prst="roundRect">
            <a:avLst>
              <a:gd name="adj" fmla="val 5952"/>
            </a:avLst>
          </a:prstGeom>
          <a:solidFill>
            <a:srgbClr val="F2EDE6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21" name="Image 4" descr="/tmp/claude-0/-home-user-anaphora-full-product-MVP/a0a81d21-bc0b-55cb-b5e4-f8281359810a/scratchpad/shots/welcome_clean.png">    </p:cNvPr>
          <p:cNvPicPr>
            <a:picLocks noChangeAspect="1"/>
          </p:cNvPicPr>
          <p:nvPr/>
        </p:nvPicPr>
        <p:blipFill>
          <a:blip r:embed="rId5"/>
          <a:srcRect l="-27308" r="-27308" t="0" b="0"/>
          <a:stretch/>
        </p:blipFill>
        <p:spPr>
          <a:xfrm>
            <a:off x="8092440" y="1691640"/>
            <a:ext cx="3291840" cy="42976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818120" y="6382512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live product — not a mockup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first message to a grounded 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901952"/>
            <a:ext cx="548640" cy="54864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6" name="Image 0" descr="/tmp/claude-0/-home-user-anaphora-full-product-MVP/a0a81d21-bc0b-55cb-b5e4-f8281359810a/scratchpad/deck/icon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9052" y="20208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guided AI conversation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98648" y="2331720"/>
            <a:ext cx="219456" cy="201168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10" name="Shape 7"/>
          <p:cNvSpPr/>
          <p:nvPr/>
        </p:nvSpPr>
        <p:spPr>
          <a:xfrm>
            <a:off x="3136392" y="173736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027932" y="1901952"/>
            <a:ext cx="548640" cy="54864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12" name="Image 1" descr="/tmp/claude-0/-home-user-anaphora-full-product-MVP/a0a81d21-bc0b-55cb-b5e4-f8281359810a/scratchpad/deck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804" y="20208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227832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227832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ME / IDEAL / US signals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486400" y="2331720"/>
            <a:ext cx="219456" cy="201168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16" name="Shape 12"/>
          <p:cNvSpPr/>
          <p:nvPr/>
        </p:nvSpPr>
        <p:spPr>
          <a:xfrm>
            <a:off x="5724144" y="173736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15684" y="1901952"/>
            <a:ext cx="548640" cy="54864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18" name="Image 2" descr="/tmp/claude-0/-home-user-anaphora-full-product-MVP/a0a81d21-bc0b-55cb-b5e4-f8281359810a/scratchpad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4556" y="2020824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15584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5815584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completeness score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074152" y="2331720"/>
            <a:ext cx="219456" cy="201168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22" name="Shape 17"/>
          <p:cNvSpPr/>
          <p:nvPr/>
        </p:nvSpPr>
        <p:spPr>
          <a:xfrm>
            <a:off x="8311896" y="1737360"/>
            <a:ext cx="233172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03436" y="1901952"/>
            <a:ext cx="548640" cy="548640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24" name="Image 3" descr="/tmp/claude-0/-home-user-anaphora-full-product-MVP/a0a81d21-bc0b-55cb-b5e4-f8281359810a/scratchpad/deck/icons/hear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2308" y="2020824"/>
            <a:ext cx="310896" cy="31089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403336" y="25603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8403336" y="281635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explained match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548640" y="3703320"/>
            <a:ext cx="4937760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pic>
        <p:nvPicPr>
          <p:cNvPr id="28" name="Image 4" descr="/tmp/claude-0/-home-user-anaphora-full-product-MVP/a0a81d21-bc0b-55cb-b5e4-f8281359810a/scratchpad/shots/welcome_clean.png">    </p:cNvPr>
          <p:cNvPicPr>
            <a:picLocks noChangeAspect="1"/>
          </p:cNvPicPr>
          <p:nvPr/>
        </p:nvPicPr>
        <p:blipFill>
          <a:blip r:embed="rId5"/>
          <a:srcRect l="-16571" r="-16571" t="0" b="0"/>
          <a:stretch/>
        </p:blipFill>
        <p:spPr>
          <a:xfrm>
            <a:off x="868680" y="3931920"/>
            <a:ext cx="1417320" cy="21488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2514600" y="3977640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walkthrough
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anaphora-app.netlify.app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open the deployed app and run a real conversation end to end.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5760720" y="3703320"/>
            <a:ext cx="5879592" cy="260604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080760" y="3913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pilot tester round already showed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6080760" y="4315968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tester who completed a Blueprint received a grounded, explained introduction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Friend-invite flow, Discoveries, and preference matching all worked end to end
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35000"/>
              </a:lnSpc>
              <a:buNone/>
            </a:pPr>
            <a:r>
              <a:rPr lang="en-US" sz="1200" i="1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numbers on the next slide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3657600" cy="3657600"/>
          </a:xfrm>
          <a:prstGeom prst="ellipse">
            <a:avLst/>
          </a:prstGeom>
          <a:solidFill>
            <a:srgbClr val="8C7FBE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69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users, real signal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99516" y="18288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3C5B4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36676" y="19385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69A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36676" y="29260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testers in this round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02836" y="18288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3C5B4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39996" y="19385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69A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4539996" y="29260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the app and started the core conversation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06156" y="18288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3C5B4E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43316" y="1938528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A69A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243316" y="2926080"/>
            <a:ext cx="3108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conversation-starters completed a full Blueprint and received an introduction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699516" y="4023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is below our 70% pilot target — and that’s exactly the useful signal.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points straight at onboarding-conversation drop-off, not match quality: every tester who completed the Blueprint received a grounded introduction.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" y="51206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real, measured data from the private tester round — not a projection.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C7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to introduction, five deterministic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2EDE6"/>
          </a:solidFill>
          <a:ln/>
        </p:spPr>
      </p:sp>
      <p:sp>
        <p:nvSpPr>
          <p:cNvPr id="5" name="Shape 3"/>
          <p:cNvSpPr/>
          <p:nvPr/>
        </p:nvSpPr>
        <p:spPr>
          <a:xfrm>
            <a:off x="1275588" y="1965960"/>
            <a:ext cx="512064" cy="512064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6" name="Image 0" descr="/tmp/claude-0/-home-user-anaphora-full-product-MVP/a0a81d21-bc0b-55cb-b5e4-f8281359810a/scratchpad/deck/icons/cha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5316" y="20756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57860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2880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23744" y="2606040"/>
            <a:ext cx="164592" cy="182880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10" name="Shape 7"/>
          <p:cNvSpPr/>
          <p:nvPr/>
        </p:nvSpPr>
        <p:spPr>
          <a:xfrm>
            <a:off x="2697480" y="17830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2EDE6"/>
          </a:solidFill>
          <a:ln/>
        </p:spPr>
      </p:sp>
      <p:sp>
        <p:nvSpPr>
          <p:cNvPr id="11" name="Shape 8"/>
          <p:cNvSpPr/>
          <p:nvPr/>
        </p:nvSpPr>
        <p:spPr>
          <a:xfrm>
            <a:off x="3424428" y="1965960"/>
            <a:ext cx="512064" cy="512064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12" name="Image 1" descr="/tmp/claude-0/-home-user-anaphora-full-product-MVP/a0a81d21-bc0b-55cb-b5e4-f8281359810a/scratchpad/deck/icons/lay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156" y="207568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770632" y="257860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2770632" y="2880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→ structured signals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72584" y="2606040"/>
            <a:ext cx="164592" cy="182880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16" name="Shape 12"/>
          <p:cNvSpPr/>
          <p:nvPr/>
        </p:nvSpPr>
        <p:spPr>
          <a:xfrm>
            <a:off x="4846320" y="17830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2EDE6"/>
          </a:solidFill>
          <a:ln/>
        </p:spPr>
      </p:sp>
      <p:sp>
        <p:nvSpPr>
          <p:cNvPr id="17" name="Shape 13"/>
          <p:cNvSpPr/>
          <p:nvPr/>
        </p:nvSpPr>
        <p:spPr>
          <a:xfrm>
            <a:off x="5573268" y="1965960"/>
            <a:ext cx="512064" cy="512064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18" name="Image 2" descr="/tmp/claude-0/-home-user-anaphora-full-product-MVP/a0a81d21-bc0b-55cb-b5e4-f8281359810a/scratchpad/deck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2996" y="2075688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919472" y="257860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4919472" y="2880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Python, not an LLM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21424" y="2606040"/>
            <a:ext cx="164592" cy="182880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22" name="Shape 17"/>
          <p:cNvSpPr/>
          <p:nvPr/>
        </p:nvSpPr>
        <p:spPr>
          <a:xfrm>
            <a:off x="6995160" y="17830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2EDE6"/>
          </a:solidFill>
          <a:ln/>
        </p:spPr>
      </p:sp>
      <p:sp>
        <p:nvSpPr>
          <p:cNvPr id="23" name="Shape 18"/>
          <p:cNvSpPr/>
          <p:nvPr/>
        </p:nvSpPr>
        <p:spPr>
          <a:xfrm>
            <a:off x="7722108" y="1965960"/>
            <a:ext cx="512064" cy="512064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24" name="Image 3" descr="/tmp/claude-0/-home-user-anaphora-full-product-MVP/a0a81d21-bc0b-55cb-b5e4-f8281359810a/scratchpad/deck/icons/d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1836" y="2075688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068312" y="257860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7068312" y="2880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+ OpenAI embeddings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8970264" y="2606040"/>
            <a:ext cx="164592" cy="182880"/>
          </a:xfrm>
          <a:prstGeom prst="rightArrow">
            <a:avLst/>
          </a:prstGeom>
          <a:solidFill>
            <a:srgbClr val="8C7FBE"/>
          </a:solidFill>
          <a:ln/>
        </p:spPr>
      </p:sp>
      <p:sp>
        <p:nvSpPr>
          <p:cNvPr id="28" name="Shape 22"/>
          <p:cNvSpPr/>
          <p:nvPr/>
        </p:nvSpPr>
        <p:spPr>
          <a:xfrm>
            <a:off x="9144000" y="1783080"/>
            <a:ext cx="1965960" cy="2011680"/>
          </a:xfrm>
          <a:prstGeom prst="roundRect">
            <a:avLst>
              <a:gd name="adj" fmla="val 5581"/>
            </a:avLst>
          </a:prstGeom>
          <a:solidFill>
            <a:srgbClr val="F2EDE6"/>
          </a:solidFill>
          <a:ln/>
        </p:spPr>
      </p:sp>
      <p:sp>
        <p:nvSpPr>
          <p:cNvPr id="29" name="Shape 23"/>
          <p:cNvSpPr/>
          <p:nvPr/>
        </p:nvSpPr>
        <p:spPr>
          <a:xfrm>
            <a:off x="9870948" y="1965960"/>
            <a:ext cx="512064" cy="512064"/>
          </a:xfrm>
          <a:prstGeom prst="ellipse">
            <a:avLst/>
          </a:prstGeom>
          <a:solidFill>
            <a:srgbClr val="2F4A3F"/>
          </a:solidFill>
          <a:ln/>
        </p:spPr>
      </p:sp>
      <p:pic>
        <p:nvPicPr>
          <p:cNvPr id="30" name="Image 4" descr="/tmp/claude-0/-home-user-anaphora-full-product-MVP/a0a81d21-bc0b-55cb-b5e4-f8281359810a/scratchpad/deck/icons/cpu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80676" y="2075688"/>
            <a:ext cx="292608" cy="292608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217152" y="2578608"/>
            <a:ext cx="1819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Reasoning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217152" y="2880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hard-coded evidence gate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independent gates matter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44805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 only surfaces as a confident “strong fit” when the LLM’s qualitative judgment AND a hard-coded evidence/score threshold both agree — a persuasive but ungrounded explanation can’t upgrade a weak match alone.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36" name="Text 29"/>
          <p:cNvSpPr txBox="1"/>
          <p:nvPr/>
        </p:nvSpPr>
        <p:spPr>
          <a:xfrm>
            <a:off x="6492240" y="44805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+ SQLAlchemy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LangChain + OpenAI (GPT-4o / GPT-4o-mini / text-embedding-3-small)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PostgreSQL + pgvector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+ Vite — Netlify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Render (Frankfurt, EU)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subscription, friend-led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32004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DEAE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Initial conversation</a:t>
            </a:r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Blueprint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Limited Discoveries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08960" y="1691640"/>
            <a:ext cx="2331720" cy="3200400"/>
          </a:xfrm>
          <a:prstGeom prst="roundRect">
            <a:avLst>
              <a:gd name="adj" fmla="val 5490"/>
            </a:avLst>
          </a:prstGeom>
          <a:solidFill>
            <a:srgbClr val="2F4A3F"/>
          </a:solidFill>
          <a:ln/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9184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A69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€14.99/mo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78892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Expanded conversation</a:t>
            </a:r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3 friend invites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curated match / month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9280" y="1691640"/>
            <a:ext cx="2331720" cy="320040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DEA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0" y="1874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1945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€29.99/mo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852160" y="2788920"/>
            <a:ext cx="19659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Discovery library</a:t>
            </a:r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Unlimited friend invites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 curated matches / month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18120" y="1737360"/>
            <a:ext cx="420624" cy="420624"/>
          </a:xfrm>
          <a:prstGeom prst="ellipse">
            <a:avLst/>
          </a:prstGeom>
          <a:solidFill>
            <a:srgbClr val="8C7FBE"/>
          </a:solidFill>
          <a:ln/>
        </p:spPr>
      </p:sp>
      <p:pic>
        <p:nvPicPr>
          <p:cNvPr id="17" name="Image 0" descr="/tmp/claude-0/-home-user-anaphora-full-product-MVP/a0a81d21-bc0b-55cb-b5e4-f8281359810a/scratchpad/deck/icons/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9070" y="1838310"/>
            <a:ext cx="218724" cy="218724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8421624" y="170992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21624" y="199339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seeking a serious relationship — Paris first, then 2-3 EU cities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18120" y="2788920"/>
            <a:ext cx="420624" cy="420624"/>
          </a:xfrm>
          <a:prstGeom prst="ellipse">
            <a:avLst/>
          </a:prstGeom>
          <a:solidFill>
            <a:srgbClr val="8C7FBE"/>
          </a:solidFill>
          <a:ln/>
        </p:spPr>
      </p:sp>
      <p:pic>
        <p:nvPicPr>
          <p:cNvPr id="21" name="Image 1" descr="/tmp/claude-0/-home-user-anaphora-full-product-MVP/a0a81d21-bc0b-55cb-b5e4-f8281359810a/scratchpad/deck/icons/user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9070" y="2889870"/>
            <a:ext cx="218724" cy="218724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8421624" y="276148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421624" y="304495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Friend-invite loop (each user invites 1-3 friends) + local event partnerships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818120" y="3840480"/>
            <a:ext cx="420624" cy="420624"/>
          </a:xfrm>
          <a:prstGeom prst="ellipse">
            <a:avLst/>
          </a:prstGeom>
          <a:solidFill>
            <a:srgbClr val="8C7FBE"/>
          </a:solidFill>
          <a:ln/>
        </p:spPr>
      </p:sp>
      <p:pic>
        <p:nvPicPr>
          <p:cNvPr id="25" name="Image 2" descr="/tmp/claude-0/-home-user-anaphora-full-product-MVP/a0a81d21-bc0b-55cb-b5e4-f8281359810a/scratchpad/deck/icons/ey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9070" y="3941430"/>
            <a:ext cx="218724" cy="21872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421624" y="3813048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8421624" y="4096512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multi-source reciprocal matching — no direct competitor combines this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60.72% of European dating-app revenue is already paid, not ad-supported — subscription validates the market, not just the product.</a:t>
            </a:r>
            <a:endParaRPr lang="en-US" sz="1150" dirty="0"/>
          </a:p>
        </p:txBody>
      </p:sp>
      <p:sp>
        <p:nvSpPr>
          <p:cNvPr id="29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math: pre-revenue economics, real trajectory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691640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F2ED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040880" y="1801368"/>
            <a:ext cx="44805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8C7F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≈23,700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322576"/>
            <a:ext cx="44805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needed for operational break-even at current pricing/conversion — not reached by month 36 on the approved growth pace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2880360"/>
            <a:ext cx="4754880" cy="1051560"/>
          </a:xfrm>
          <a:prstGeom prst="roundRect">
            <a:avLst>
              <a:gd name="adj" fmla="val 10435"/>
            </a:avLst>
          </a:prstGeom>
          <a:solidFill>
            <a:srgbClr val="F2EDE6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040880" y="2990088"/>
            <a:ext cx="4480560" cy="57835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‒99.6% / ‒94.5%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3511296"/>
            <a:ext cx="4480560" cy="399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 and 36-month ROI — expected shape for pre-revenue at this stage, not a modeling error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411480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Assumptions: </a:t>
            </a:r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€500K pre-seed · €14.99/€29.99 tiers · 500→5,000 registered users (month 12→36) · 6.5% conversion · €30K/month team burn (~700× the infra bill)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model, break-even derivation, and assumptions log: roi_risk_assessment.md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EA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RISK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as a first-class concern, not an afterthought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pic>
        <p:nvPicPr>
          <p:cNvPr id="5" name="Image 0" descr="/tmp/claude-0/-home-user-anaphora-full-product-MVP/a0a81d21-bc0b-55cb-b5e4-f8281359810a/scratchpad/deck/icons/shield_la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4231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2F4A3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RISK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9260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prohibited, not high-risk — Article 50 transparency obligations apply and are substantially met (AI disclosure on first screen, AI-generated-content notice already live).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1691640"/>
            <a:ext cx="5468112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</p:sp>
      <p:pic>
        <p:nvPicPr>
          <p:cNvPr id="11" name="Image 1" descr="/tmp/claude-0/-home-user-anaphora-full-product-MVP/a0a81d21-bc0b-55cb-b5e4-f8281359810a/scratchpad/deck/icons/lock_la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2024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49440" y="19385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24231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complete for the highest-risk processing (special-category dating-preference inference via a third-party LLM). Data hosted in the EU (Frankfurt).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446520" y="31546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an explicit consent checkbox for sensitive inference, before wider pilot.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being managed</a:t>
            </a:r>
            <a:endParaRPr lang="en-US" sz="1400" dirty="0"/>
          </a:p>
        </p:txBody>
      </p:sp>
      <p:pic>
        <p:nvPicPr>
          <p:cNvPr id="16" name="Image 2" descr="/tmp/claude-0/-home-user-anaphora-full-product-MVP/a0a81d21-bc0b-55cb-b5e4-f8281359810a/scratchpad/deck/icons/alert_lav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49884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6112" y="442569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density in a single city  —  </a:t>
            </a:r>
            <a:pPr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Single-city launch (Paris) + local event partnerships</a:t>
            </a:r>
            <a:endParaRPr lang="en-US" sz="1150" dirty="0"/>
          </a:p>
        </p:txBody>
      </p:sp>
      <p:pic>
        <p:nvPicPr>
          <p:cNvPr id="18" name="Image 3" descr="/tmp/claude-0/-home-user-anaphora-full-product-MVP/a0a81d21-bc0b-55cb-b5e4-f8281359810a/scratchpad/deck/icons/alert_lav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956048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6112" y="488289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Special-category consent strength  —  </a:t>
            </a:r>
            <a:pPr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DPIA done; explicit consent checkpoint before pilot</a:t>
            </a:r>
            <a:endParaRPr lang="en-US" sz="1150" dirty="0"/>
          </a:p>
        </p:txBody>
      </p:sp>
      <p:pic>
        <p:nvPicPr>
          <p:cNvPr id="20" name="Image 4" descr="/tmp/claude-0/-home-user-anaphora-full-product-MVP/a0a81d21-bc0b-55cb-b5e4-f8281359810a/scratchpad/deck/icons/alert_lav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413248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6112" y="5340096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LLM-provider dependency  —  </a:t>
            </a:r>
            <a:pPr indent="0" marL="0">
              <a:buNone/>
            </a:pPr>
            <a:r>
              <a:rPr lang="en-US" sz="115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client already centralized — fallback-ready architecture</a:t>
            </a:r>
            <a:endParaRPr lang="en-US" sz="1150" dirty="0"/>
          </a:p>
        </p:txBody>
      </p:sp>
      <p:sp>
        <p:nvSpPr>
          <p:cNvPr id="22" name="Text 15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754880"/>
            <a:ext cx="3291840" cy="3291840"/>
          </a:xfrm>
          <a:prstGeom prst="ellipse">
            <a:avLst/>
          </a:prstGeom>
          <a:solidFill>
            <a:srgbClr val="8C7FBE">
              <a:alpha val="2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A69A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0408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→ Full Deployment → 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A69AC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847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2128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F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63824" y="2258568"/>
            <a:ext cx="210312" cy="201168"/>
          </a:xfrm>
          <a:prstGeom prst="rightArrow">
            <a:avLst/>
          </a:prstGeom>
          <a:solidFill>
            <a:srgbClr val="A69ACD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3C5B4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847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2128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· ~500 users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2258568"/>
            <a:ext cx="210312" cy="201168"/>
          </a:xfrm>
          <a:prstGeom prst="rightArrow">
            <a:avLst/>
          </a:prstGeom>
          <a:solidFill>
            <a:srgbClr val="A69ACD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3C5B4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55080" y="1847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Deployment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2128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+2-3 EU cities · ~5,000 users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833104" y="2258568"/>
            <a:ext cx="210312" cy="201168"/>
          </a:xfrm>
          <a:prstGeom prst="rightArrow">
            <a:avLst/>
          </a:prstGeom>
          <a:solidFill>
            <a:srgbClr val="A69ACD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1737360"/>
            <a:ext cx="2606040" cy="1234440"/>
          </a:xfrm>
          <a:prstGeom prst="roundRect">
            <a:avLst>
              <a:gd name="adj" fmla="val 8889"/>
            </a:avLst>
          </a:prstGeom>
          <a:solidFill>
            <a:srgbClr val="3C5B4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18470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89720" y="22128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traction supports it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features on the roadmap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75888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Deeper Discoveries &amp; richer Blueprint enrichment</a:t>
            </a:r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Local event partnerships &amp; ticketing (density + acquisition, doing double duty)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“Relationship archaeology” — reflective, optional, never diagnostic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 &amp; safety: identity verification, reporting, human review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46520" y="3337560"/>
            <a:ext cx="5193792" cy="2788920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6656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84048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F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€2–3M</a:t>
            </a:r>
            <a:endParaRPr lang="en-US" sz="4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61772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C7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round, targeted month 15-18 — timed to close before the €500K pre-seed’s ~16.7-month runway runs out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5440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8C7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on: pilot KPIs met · ≥5% conversion observed · no unresolved compliance gap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0" y="63550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2026-09-03T09:16:46Z</dcterms:created>
  <dcterms:modified xsi:type="dcterms:W3CDTF">2026-09-03T09:16:46Z</dcterms:modified>
</cp:coreProperties>
</file>